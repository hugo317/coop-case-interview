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3152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6FD37E"/>
                </a:solidFill>
                <a:latin typeface="Calibri"/>
              </a:rPr>
              <a:t>COOP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3F5F3"/>
                </a:solidFill>
                <a:latin typeface="Calibri"/>
              </a:rPr>
              <a:t>Data-Driven Insights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3F5F3"/>
                </a:solidFill>
                <a:latin typeface="Calibri"/>
              </a:rPr>
              <a:t>for Coop Sverige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06040"/>
            <a:ext cx="1280160" cy="38100"/>
          </a:xfrm>
          <a:prstGeom prst="rect">
            <a:avLst/>
          </a:prstGeom>
          <a:solidFill>
            <a:srgbClr val="6FD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A8F0B4"/>
                </a:solidFill>
                <a:latin typeface="Calibri"/>
              </a:rPr>
              <a:t>Channel behavior · Sustainability · Customer segmentation · Discount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3F5F3"/>
                </a:solidFill>
                <a:latin typeface="Calibri"/>
              </a:rPr>
              <a:t>Data Analyst Case Interview  |  2 months of receipt data, 2 stores  |  April–May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E473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1848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3F5F3"/>
                </a:solidFill>
                <a:latin typeface="Calibri"/>
              </a:rPr>
              <a:t>Channel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93976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9E"/>
                </a:solidFill>
                <a:latin typeface="Calibri"/>
              </a:rPr>
              <a:t>How do offline, online, and omni-channel customers shop — and what sets them apart?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097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E473A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0720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3F5F3"/>
                </a:solidFill>
                <a:latin typeface="Calibri"/>
              </a:rPr>
              <a:t>Sustainability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82696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9E"/>
                </a:solidFill>
                <a:latin typeface="Calibri"/>
              </a:rPr>
              <a:t>How and why do categories differ, and what can Coop do to be more sustainable?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1097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E473A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9592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3F5F3"/>
                </a:solidFill>
                <a:latin typeface="Calibri"/>
              </a:rPr>
              <a:t>Customer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471416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9E"/>
                </a:solidFill>
                <a:latin typeface="Calibri"/>
              </a:rPr>
              <a:t>What actually differentiates our customer groups, and how should Coop act on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1097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E473A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1846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3F5F3"/>
                </a:solidFill>
                <a:latin typeface="Calibri"/>
              </a:rPr>
              <a:t>Discount Economics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660136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9E"/>
                </a:solidFill>
                <a:latin typeface="Calibri"/>
              </a:rPr>
              <a:t>What does discount spend actually cost us, and what's a converted customer worth?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What we're working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1.6M receipt line items, 2 stores (A &amp; B), 2020-04-01 to 2020-05-31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~20,500 households, ~90,900 receipts — IDs anonymized per GDPR, item names replaced with a category hierarchy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"profit" throughout = lineItemAmountExclVat − lineItemCostExclVat (Coop's margin, VAT excluded)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All SEK figures in this deck are shown as a monthly run-rate (2-month sample ÷ 2), not cumulative 2-month totals — a straight-line average, not a seasonality-adjusted forecast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Where facts were missing, we made explicit assumptions rather than guessing silently — each is called out on the slide it affects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10789920" cy="1371600"/>
          </a:xfrm>
          <a:prstGeom prst="roundRect">
            <a:avLst/>
          </a:prstGeom>
          <a:solidFill>
            <a:srgbClr val="1A2B22"/>
          </a:solidFill>
          <a:ln w="15875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b="1" sz="1200">
                <a:solidFill>
                  <a:srgbClr val="E8734A"/>
                </a:solidFill>
                <a:latin typeface="Calibri"/>
              </a:rPr>
              <a:t>⚠ DATA CAVEAT   </a:t>
            </a:r>
            <a:r>
              <a:rPr sz="1200">
                <a:solidFill>
                  <a:srgbClr val="F3F5F3"/>
                </a:solidFill>
                <a:latin typeface="Calibri"/>
              </a:rPr>
              <a:t>The accompanying case_data_description.xlsx reports ~2x today's row/receipt/customer counts (3.2M rows vs. our actual 1.6M). The file itself is complete and un-truncated (matches the zip archive byte-for-byte) — this looks like a documentation mismatch, not missing data. Treat our numbers, not the xlsx's, as ground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82296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354038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3F5F3"/>
                </a:solidFill>
                <a:latin typeface="Calibri"/>
              </a:rPr>
              <a:t>Channel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60320"/>
            <a:ext cx="2011680" cy="38100"/>
          </a:xfrm>
          <a:prstGeom prst="rect">
            <a:avLst/>
          </a:prstGeom>
          <a:solidFill>
            <a:srgbClr val="6FD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FD37E"/>
                </a:solidFill>
                <a:latin typeface="Calibri"/>
              </a:rPr>
              <a:t>How do offline-, online-, and omni-channel customers shop — and what sets them apart?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CHANNEL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Online exists at Store A only — and never on weekends</a:t>
            </a:r>
          </a:p>
        </p:txBody>
      </p:sp>
      <p:pic>
        <p:nvPicPr>
          <p:cNvPr id="5" name="Picture 4" descr="q1_weekend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035040" cy="33408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7373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Store B has zero online transactions — always has, structurally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Even at Store A, online purchasing is exactly zero on every single weekend day in the 2-month window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Verified directly: all 18 weekend dates in the file show 0 online transactions, while offline sales continue normally (10K–19K/day)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This looks like an operational limit (no weekend online fulfillment), not a demand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CHANNEL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Online shoppers buy more, and buy ahead of meals</a:t>
            </a:r>
          </a:p>
        </p:txBody>
      </p:sp>
      <p:pic>
        <p:nvPicPr>
          <p:cNvPr id="5" name="Picture 4" descr="q1_bas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577840" cy="2290089"/>
          </a:xfrm>
          <a:prstGeom prst="rect">
            <a:avLst/>
          </a:prstGeom>
        </p:spPr>
      </p:pic>
      <p:pic>
        <p:nvPicPr>
          <p:cNvPr id="6" name="Picture 5" descr="q1_tim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54480"/>
            <a:ext cx="5577840" cy="25491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94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Online baskets are larger in both value and item count — consistent with planned, bulk-style shopping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Online orders cluster around ~9am and ~3pm — before meal times, suggesting forward-planning rather than impulse purchases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CHANNEL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Omni-channel households are ~2.6x more profitable</a:t>
            </a:r>
          </a:p>
        </p:txBody>
      </p:sp>
      <p:pic>
        <p:nvPicPr>
          <p:cNvPr id="5" name="Picture 4" descr="q1_omni_prem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760720" cy="340620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737360"/>
            <a:ext cx="2377440" cy="1371600"/>
          </a:xfrm>
          <a:prstGeom prst="roundRect">
            <a:avLst/>
          </a:prstGeom>
          <a:solidFill>
            <a:srgbClr val="1A2B22"/>
          </a:solidFill>
          <a:ln w="12700">
            <a:solidFill>
              <a:srgbClr val="6FD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6FD37E"/>
                </a:solidFill>
                <a:latin typeface="Calibri"/>
              </a:rPr>
              <a:t>2.56x</a:t>
            </a:r>
          </a:p>
          <a:p>
            <a:pPr algn="ctr"/>
            <a:r>
              <a:rPr sz="1200">
                <a:solidFill>
                  <a:srgbClr val="F3F5F3"/>
                </a:solidFill>
                <a:latin typeface="Calibri"/>
              </a:rPr>
              <a:t>Raw profit multiplier
(omni vs. non-omni)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737360"/>
            <a:ext cx="2377440" cy="1371600"/>
          </a:xfrm>
          <a:prstGeom prst="roundRect">
            <a:avLst/>
          </a:prstGeom>
          <a:solidFill>
            <a:srgbClr val="1A2B22"/>
          </a:solidFill>
          <a:ln w="12700">
            <a:solidFill>
              <a:srgbClr val="6FD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6FD37E"/>
                </a:solidFill>
                <a:latin typeface="Calibri"/>
              </a:rPr>
              <a:t>2.59x</a:t>
            </a:r>
          </a:p>
          <a:p>
            <a:pPr algn="ctr"/>
            <a:r>
              <a:rPr sz="1200">
                <a:solidFill>
                  <a:srgbClr val="F3F5F3"/>
                </a:solidFill>
                <a:latin typeface="Calibri"/>
              </a:rPr>
              <a:t>After adjusting for
buying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3832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Stress-tested against the obvious confound — buying power — and the gap barely moved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This is a real behavioral/engagement signal, not just "omni customers are richer households"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But only ~0.55% of households are omni today — and part of that low rate is structural: Store-B-only shoppers can never qualify, since online doesn't exist there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CHANNEL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Sizing the opportunity</a:t>
            </a:r>
          </a:p>
        </p:txBody>
      </p:sp>
      <p:pic>
        <p:nvPicPr>
          <p:cNvPr id="5" name="Picture 4" descr="q1_opportu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10789920" cy="47589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486400"/>
            <a:ext cx="10789920" cy="1097280"/>
          </a:xfrm>
          <a:prstGeom prst="roundRect">
            <a:avLst/>
          </a:prstGeom>
          <a:solidFill>
            <a:srgbClr val="1A2B22"/>
          </a:solidFill>
          <a:ln w="15875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b="1" sz="1200">
                <a:solidFill>
                  <a:srgbClr val="E8734A"/>
                </a:solidFill>
                <a:latin typeface="Calibri"/>
              </a:rPr>
              <a:t>⚠ DATA CAVEAT   </a:t>
            </a:r>
            <a:r>
              <a:rPr sz="1200">
                <a:solidFill>
                  <a:srgbClr val="F3F5F3"/>
                </a:solidFill>
                <a:latin typeface="Calibri"/>
              </a:rPr>
              <a:t>Both figures are naive, directional projections, not forecasts. They assume weekend/converted shoppers would behave like today's existing weekday/omni shoppers — ignoring fulfillment costs, cannibalization, and the small, self-selected size of today's omni sample (113 households). Use as "size of the prize," not a committed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CHANNEL BEHAVIOR — 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What Coop should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F3F5F3"/>
                </a:solidFill>
                <a:latin typeface="Calibri"/>
              </a:rPr>
              <a:t>•  Test weekend online fulfillment at Store A — the weekday economics already work (online ≈ 91% of offline profit); the naive estimate is +415K SEK/month if weekends matched weekday performance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F3F5F3"/>
                </a:solidFill>
                <a:latin typeface="Calibri"/>
              </a:rPr>
              <a:t>•  Investigate extending online to Store B — even a partial rollout closes a purely structural gap that's currently suppressing the omni-channel rate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F3F5F3"/>
                </a:solidFill>
                <a:latin typeface="Calibri"/>
              </a:rPr>
              <a:t>•  Build a dedicated retention play for existing omni-channel households — they're proven ~2.5x more valuable; protect and grow this group before chasing broad conversion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F3F5F3"/>
                </a:solidFill>
                <a:latin typeface="Calibri"/>
              </a:rPr>
              <a:t>•  Re-baseline the omni-channel rate against Store-A-eligible households only when reporting it internally — the raw company-wide number understates true adoption where the option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82296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354038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3F5F3"/>
                </a:solidFill>
                <a:latin typeface="Calibri"/>
              </a:rPr>
              <a:t>Sustainability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60320"/>
            <a:ext cx="2011680" cy="38100"/>
          </a:xfrm>
          <a:prstGeom prst="rect">
            <a:avLst/>
          </a:prstGeom>
          <a:solidFill>
            <a:srgbClr val="6FD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FD37E"/>
                </a:solidFill>
                <a:latin typeface="Calibri"/>
              </a:rPr>
              <a:t>How and why do categories differ, and what actions can Coop take to be more sustainable?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Baseline adoption is low — and one flag under-counts it</a:t>
            </a:r>
          </a:p>
        </p:txBody>
      </p:sp>
      <p:pic>
        <p:nvPicPr>
          <p:cNvPr id="5" name="Picture 4" descr="q2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760720" cy="34025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7373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krav 6.1%, eko 5.5%, organic 3.8%, msc 1.7%, fair_trade 0.3% of all line items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no_lactose (22.7%) is excluded from "sustainability" — it's a dietary/allergen label, not an environmental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383280"/>
            <a:ext cx="5029200" cy="2377440"/>
          </a:xfrm>
          <a:prstGeom prst="roundRect">
            <a:avLst/>
          </a:prstGeom>
          <a:solidFill>
            <a:srgbClr val="1A2B22"/>
          </a:solidFill>
          <a:ln w="15875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b="1" sz="1200">
                <a:solidFill>
                  <a:srgbClr val="E8734A"/>
                </a:solidFill>
                <a:latin typeface="Calibri"/>
              </a:rPr>
              <a:t>⚠ DATA CAVEAT   </a:t>
            </a:r>
            <a:r>
              <a:rPr sz="1200">
                <a:solidFill>
                  <a:srgbClr val="F3F5F3"/>
                </a:solidFill>
                <a:latin typeface="Calibri"/>
              </a:rPr>
              <a:t>Only 34.5% of KRAV-flagged items are also flagged organic — but KRAV certification requires meeting organic standards as a floor, so KRAV items ARE organic in substance regardless. The `organic` flag alone understates true coverage — use organic-OR-krav instead. This isn't cosmetic: it changes which categories have a real supply gap (next slide).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Sustainability lives almost entirely in fresh produce</a:t>
            </a:r>
          </a:p>
        </p:txBody>
      </p:sp>
      <p:pic>
        <p:nvPicPr>
          <p:cNvPr id="5" name="Picture 4" descr="q2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943600" cy="4427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Fruit &amp; berries (18.6%), vegetables (11.5%), and vegetarian (10.5%) lead — organic certification is most established for raw produce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Meat sits surprisingly low (4.1% on the organic flag alone) — worth re-checking with KRAV included before treating it as a confirmed gap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Packaged/pantry goods are near-zero — processed goods essentially have no organic presence in the assortment at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MSC and fair trade only make sense in their own categories</a:t>
            </a:r>
          </a:p>
        </p:txBody>
      </p:sp>
      <p:pic>
        <p:nvPicPr>
          <p:cNvPr id="5" name="Picture 4" descr="q2_msc_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10789920" cy="42596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86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MSC (sustainable seafood) is concentrated exactly where expected: 66.6% of fish items carry it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fair_trade peaks much lower even in its best categories (~2.4%) — realistically limited to a narrow slice like coffee, chocolate, bananas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The biggest opportunity is supply, not demand</a:t>
            </a:r>
          </a:p>
        </p:txBody>
      </p:sp>
      <p:pic>
        <p:nvPicPr>
          <p:cNvPr id="5" name="Picture 4" descr="q2_opportu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400800" cy="38665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73736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Corrected lens: organic-OR-krav, not organic alone — cheese and frozen fish looked like gaps under organic alone, but both already have real KRAV coverage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The genuine gaps: in-store bread (~128K SEK/month), functional drinks (~73K), salad sides (~54K), and deli-counter meats (~51K) — all at 0% organic-or-krav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These are real assortment gaps Coop controls directly, not a customer demand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SUSTAINABILITY — 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What Coop should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F3F5F3"/>
                </a:solidFill>
                <a:latin typeface="Calibri"/>
              </a:rPr>
              <a:t>•  Close the assortment gap in the REAL zero-coverage categories — in-store bread, functional drinks, salad sides, deli-counter meats — not cheese or frozen fish, which already have KRAV coverage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F3F5F3"/>
                </a:solidFill>
                <a:latin typeface="Calibri"/>
              </a:rPr>
              <a:t>•  Fix the organic flag's under-tagging for KRAV items internally — it quietly understates Coop's true organic-equivalent assortment everywhere, not just in the categories flagged here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F3F5F3"/>
                </a:solidFill>
                <a:latin typeface="Calibri"/>
              </a:rPr>
              <a:t>•  Investigate whether meat still under-indexes once KRAV coverage is accounted for, before treating it as a confirmed gap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600">
                <a:solidFill>
                  <a:srgbClr val="F3F5F3"/>
                </a:solidFill>
                <a:latin typeface="Calibri"/>
              </a:rPr>
              <a:t>•  Promote MSC in fish, don't fix it — adoption is already strong (66.6%); this is a visibility/marketing play, not a supply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82296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354038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3F5F3"/>
                </a:solidFill>
                <a:latin typeface="Calibri"/>
              </a:rPr>
              <a:t>Customer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60320"/>
            <a:ext cx="2011680" cy="38100"/>
          </a:xfrm>
          <a:prstGeom prst="rect">
            <a:avLst/>
          </a:prstGeom>
          <a:solidFill>
            <a:srgbClr val="6FD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FD37E"/>
                </a:solidFill>
                <a:latin typeface="Calibri"/>
              </a:rPr>
              <a:t>What's the difference between our customer groups, and how should Coop act on that?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Demographic segments barely predict value</a:t>
            </a:r>
          </a:p>
        </p:txBody>
      </p:sp>
      <p:pic>
        <p:nvPicPr>
          <p:cNvPr id="5" name="Picture 4" descr="q3_mosaic_p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217920" cy="43769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7373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Every MOSAIC lifestyle segment's profit share tracks its household share almost exactly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Avg profit per household/month ranges only 178–216 SEK across all 14 segments — a narrow band, not a meaningful split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MOSAIC group does NOT identify Coop's most valuable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Buying-power class doesn't track spend — and much of it is unclassified</a:t>
            </a:r>
          </a:p>
        </p:txBody>
      </p:sp>
      <p:pic>
        <p:nvPicPr>
          <p:cNvPr id="5" name="Picture 4" descr="q3_bp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937760" cy="45777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73736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LAG_KOPKRAFT (low buying power) households average 208 SEK profit/month — MORE than MYCKET_HOG_KOPKRAFT (very high buying power) households at 201 SEK/month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An externally-assigned "purchasing power" label does not predict actual spend at Coop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3657600"/>
            <a:ext cx="5760720" cy="2011680"/>
          </a:xfrm>
          <a:prstGeom prst="roundRect">
            <a:avLst/>
          </a:prstGeom>
          <a:solidFill>
            <a:srgbClr val="1A2B22"/>
          </a:solidFill>
          <a:ln w="15875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b="1" sz="1200">
                <a:solidFill>
                  <a:srgbClr val="E8734A"/>
                </a:solidFill>
                <a:latin typeface="Calibri"/>
              </a:rPr>
              <a:t>⚠ DATA CAVEAT   </a:t>
            </a:r>
            <a:r>
              <a:rPr sz="1200">
                <a:solidFill>
                  <a:srgbClr val="F3F5F3"/>
                </a:solidFill>
                <a:latin typeface="Calibri"/>
              </a:rPr>
              <a:t>17.4% of households (worth ~18% of profit) have no usable buying-power classification at all (Okänt or missing) — over 30x the equivalent gap in MOSAIC group. Nearly 1 in 5 households isn't represented if this field is used for targeting.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What actually predicts value: plain behavioral concentration</a:t>
            </a:r>
          </a:p>
        </p:txBody>
      </p:sp>
      <p:pic>
        <p:nvPicPr>
          <p:cNvPr id="5" name="Picture 4" descr="q3_loren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669280" cy="52548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737360"/>
            <a:ext cx="2377440" cy="1280160"/>
          </a:xfrm>
          <a:prstGeom prst="roundRect">
            <a:avLst/>
          </a:prstGeom>
          <a:solidFill>
            <a:srgbClr val="1A2B22"/>
          </a:solidFill>
          <a:ln w="12700">
            <a:solidFill>
              <a:srgbClr val="6FD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6FD37E"/>
                </a:solidFill>
                <a:latin typeface="Calibri"/>
              </a:rPr>
              <a:t>47.9%</a:t>
            </a:r>
          </a:p>
          <a:p>
            <a:pPr algn="ctr"/>
            <a:r>
              <a:rPr sz="1200">
                <a:solidFill>
                  <a:srgbClr val="F3F5F3"/>
                </a:solidFill>
                <a:latin typeface="Calibri"/>
              </a:rPr>
              <a:t>of profit from the
top 10% of households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737360"/>
            <a:ext cx="2377440" cy="1280160"/>
          </a:xfrm>
          <a:prstGeom prst="roundRect">
            <a:avLst/>
          </a:prstGeom>
          <a:solidFill>
            <a:srgbClr val="1A2B22"/>
          </a:solidFill>
          <a:ln w="12700">
            <a:solidFill>
              <a:srgbClr val="6FD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3000" b="1">
                <a:solidFill>
                  <a:srgbClr val="6FD37E"/>
                </a:solidFill>
                <a:latin typeface="Calibri"/>
              </a:rPr>
              <a:t>94.1%</a:t>
            </a:r>
          </a:p>
          <a:p>
            <a:pPr algn="ctr"/>
            <a:r>
              <a:rPr sz="1200">
                <a:solidFill>
                  <a:srgbClr val="F3F5F3"/>
                </a:solidFill>
                <a:latin typeface="Calibri"/>
              </a:rPr>
              <a:t>of profit from the
top 50% of households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9184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Half of Coop's customer base contributes almost nothing (5.9% of profit) over this window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A simple "heavy vs. light shopper" behavioral split captures far more than either demographic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MOSAIC does show what segments buy — just not how much</a:t>
            </a:r>
          </a:p>
        </p:txBody>
      </p:sp>
      <p:pic>
        <p:nvPicPr>
          <p:cNvPr id="5" name="Picture 4" descr="q3_affi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10789920" cy="3647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AA69E"/>
                </a:solidFill>
                <a:latin typeface="Calibri"/>
              </a:rPr>
              <a:t>Index = segment's spend-share in a category ÷ overall spend-share × 100  (100 = average)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CUSTOMER SEGMENTATION — 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What Coop should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F3F5F3"/>
                </a:solidFill>
                <a:latin typeface="Calibri"/>
              </a:rPr>
              <a:t>•  Stop leading with MOSAIC or buying-power class for value-based targeting — neither meaningfully separates high- from low-value households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F3F5F3"/>
                </a:solidFill>
                <a:latin typeface="Calibri"/>
              </a:rPr>
              <a:t>•  Build a simple behavioral (RFM-style) segment instead — the top 10-20% of households by actual spend deserve a dedicated retention/loyalty program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F3F5F3"/>
                </a:solidFill>
                <a:latin typeface="Calibri"/>
              </a:rPr>
              <a:t>•  Use MOSAIC for assortment and marketing, not value targeting — the category-affinity signal is real and actionable (e.g. tobacco/juice for rural traditionalists, beauty/health for high-spending villa households)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F3F5F3"/>
                </a:solidFill>
                <a:latin typeface="Calibri"/>
              </a:rPr>
              <a:t>•  Investigate the top 10% of households directly — demographic labels don't explain their value, so a behavioral deep-dive will be more useful than further demographic slicing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82296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354038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3F5F3"/>
                </a:solidFill>
                <a:latin typeface="Calibri"/>
              </a:rPr>
              <a:t>Discount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60320"/>
            <a:ext cx="2011680" cy="38100"/>
          </a:xfrm>
          <a:prstGeom prst="rect">
            <a:avLst/>
          </a:prstGeom>
          <a:solidFill>
            <a:srgbClr val="6FD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FD37E"/>
                </a:solidFill>
                <a:latin typeface="Calibri"/>
              </a:rPr>
              <a:t>What does discount spend actually cost us, and what's a converted customer worth?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DISCOUNT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Discounts cost little to offer — a converted customer is worth real money</a:t>
            </a:r>
          </a:p>
        </p:txBody>
      </p:sp>
      <p:pic>
        <p:nvPicPr>
          <p:cNvPr id="5" name="Picture 4" descr="q4_2_omni_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669280" cy="3738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73736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The marginal cost of OFFERING a discount is close to zero — no fixed spend; Coop only pays out when a customer actually redeems it, unlike advertising or headcount, which cost money regardless of results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The real cost only shows up on redemption — quantified next: ~1.25M SEK/month, ~30.6% of gross margin (see Q4.5)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F3F5F3"/>
                </a:solidFill>
                <a:latin typeface="Calibri"/>
              </a:rPr>
              <a:t>•  Converting one single-channel household to omni-channel is worth +310 SEK/month in incremental profit — a real, ongoing prize per customer, not a one-off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32120"/>
            <a:ext cx="10789920" cy="1051560"/>
          </a:xfrm>
          <a:prstGeom prst="roundRect">
            <a:avLst/>
          </a:prstGeom>
          <a:solidFill>
            <a:srgbClr val="1A2B22"/>
          </a:solidFill>
          <a:ln w="15875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b="1" sz="1200">
                <a:solidFill>
                  <a:srgbClr val="E8734A"/>
                </a:solidFill>
                <a:latin typeface="Calibri"/>
              </a:rPr>
              <a:t>⚠ DATA CAVEAT   </a:t>
            </a:r>
            <a:r>
              <a:rPr sz="1200">
                <a:solidFill>
                  <a:srgbClr val="F3F5F3"/>
                </a:solidFill>
                <a:latin typeface="Calibri"/>
              </a:rPr>
              <a:t>Our own Q4.2 analysis found the raw discount-usage-to-omni-channel correlation mostly disappears once controlling for visit frequency as a confound. This is the value AT STAKE if a conversion nudge succeeds — not proof that discounts alone cause it. Given the near-zero cost of testing, a controlled pilot (targeted discount to a matched sample, held against a control group) is the cheap way to find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DISCOUNT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Discount spend already skews toward lower-value customers</a:t>
            </a:r>
          </a:p>
        </p:txBody>
      </p:sp>
      <p:pic>
        <p:nvPicPr>
          <p:cNvPr id="5" name="Picture 4" descr="q4_5_concen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5303520" cy="4580970"/>
          </a:xfrm>
          <a:prstGeom prst="rect">
            <a:avLst/>
          </a:prstGeom>
        </p:spPr>
      </p:pic>
      <p:pic>
        <p:nvPicPr>
          <p:cNvPr id="6" name="Picture 5" descr="q4_5_inten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508760"/>
            <a:ext cx="5669280" cy="3738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3212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F3F5F3"/>
                </a:solidFill>
                <a:latin typeface="Calibri"/>
              </a:rPr>
              <a:t>•  Top 10% of households (by profit) drive 47.9% of profit but receive only 35.0% of discount SEK — discounts are LESS concentrated than value, not more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F3F5F3"/>
                </a:solidFill>
                <a:latin typeface="Calibri"/>
              </a:rPr>
              <a:t>•  Discount intensity (discount SEK as % of revenue) drops cleanly from 24.3% for the lowest-value quartile to 7.2% for the highest — the deepest discounting already goes to marginal customers, not top spenders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DISCOUNT ECONOMICS — 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What Coop should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F3F5F3"/>
                </a:solidFill>
                <a:latin typeface="Calibri"/>
              </a:rPr>
              <a:t>•  Run a controlled pilot: offer a targeted cross-channel discount to a matched sample of single-channel customers, held against a control group — near-zero cost to test, ~310 SEK/month upside per household if it works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F3F5F3"/>
                </a:solidFill>
                <a:latin typeface="Calibri"/>
              </a:rPr>
              <a:t>•  Don't rebalance the existing discount budget toward top-tier customers — today's allocation already skews toward marginal/lower-value households, which is directionally efficient as an acquisition/retention tool, not wasted spend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F3F5F3"/>
                </a:solidFill>
                <a:latin typeface="Calibri"/>
              </a:rPr>
              <a:t>•  Track discount ROI by household value tier going forward, not just in aggregate — turns an 8.5%-of-revenue cost center into a measurable, tunable lever instead of a blanket policy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700">
                <a:solidFill>
                  <a:srgbClr val="F3F5F3"/>
                </a:solidFill>
                <a:latin typeface="Calibri"/>
              </a:rPr>
              <a:t>•  Reuse this same near-zero-cost mechanism for Q4.3's finding — target low-margin-anchored "loyal" customers with a discount nudging them toward a higher-margin substitute, not just channel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FD37E"/>
                </a:solidFill>
                <a:latin typeface="Calibri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3F5F3"/>
                </a:solidFill>
                <a:latin typeface="Calibri"/>
              </a:rPr>
              <a:t>The throughline across all four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Channel behavior (01): omni-channel households are worth ~2.6x more profit/month, and that holds even after adjusting for buying power — real behavioral value, not just wealthier customers. The biggest blocker is self-inflicted: no weekend online, no Store-B online.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Sustainability (02): the gap is supply, not demand — in-store bread, functional drinks, salad sides, and deli-counter meats have zero organic-or-KRAV options today. The organic flag itself under-counts real coverage (KRAV implies organic) and is worth fixing before it drives further decisions.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Customer segmentation (03): behavior beats demographics — MOSAIC and buying-power class barely predict value, but plain spend concentration does: the top 10% of households drive ~48% of profit.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>
                <a:solidFill>
                  <a:srgbClr val="F3F5F3"/>
                </a:solidFill>
                <a:latin typeface="Calibri"/>
              </a:rPr>
              <a:t>•  Discount economics (04): discount spend already skews toward marginal customers, not wasted on the loyal ones — and since offering a discount costs almost nothing until redeemed, it's a cheap lever worth testing further (e.g. nudging single-channel customers toward omni).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COOP SVERIGE  —  DATA ANALYST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69E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88720"/>
            <a:ext cx="5486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3F5F3"/>
                </a:solidFill>
                <a:latin typeface="Calibri"/>
              </a:rPr>
              <a:t>Tack!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280160" cy="38100"/>
          </a:xfrm>
          <a:prstGeom prst="rect">
            <a:avLst/>
          </a:prstGeom>
          <a:solidFill>
            <a:srgbClr val="6FD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6FD37E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